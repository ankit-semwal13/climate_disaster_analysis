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Aptos" charset="1" panose="020B00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13180" y="1028700"/>
            <a:ext cx="15810391" cy="763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Global Climate &amp;</a:t>
            </a:r>
          </a:p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Natural Disaster Analysis</a:t>
            </a:r>
          </a:p>
          <a:p>
            <a:pPr algn="l">
              <a:lnSpc>
                <a:spcPts val="9720"/>
              </a:lnSpc>
            </a:pPr>
            <a:r>
              <a:rPr lang="en-US" sz="81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(1970–2021)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FD3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Presented by: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Ankit Semwal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FD3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Course: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Data Visualization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FD3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University: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University of Europe for Applied Sciences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525780"/>
            <a:ext cx="164134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8720" y="1691640"/>
            <a:ext cx="2560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Content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5880" y="2192655"/>
            <a:ext cx="7772400" cy="278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Natural disasters have become more frequent and severe worldwide.</a:t>
            </a:r>
          </a:p>
          <a:p>
            <a:pPr algn="l" marL="582930" indent="-291465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Understanding historical disaster patterns helps improve preparedness.</a:t>
            </a:r>
          </a:p>
          <a:p>
            <a:pPr algn="l" marL="582930" indent="-291465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This project analyzes disaster trends from 1970–2021 using the EM-DAT dataset.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2640" y="1691640"/>
            <a:ext cx="2560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Objective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29800" y="2192655"/>
            <a:ext cx="6949440" cy="185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Analyze disaster trends</a:t>
            </a:r>
          </a:p>
          <a:p>
            <a:pPr algn="l" marL="582930" indent="-291465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Study human impact</a:t>
            </a:r>
          </a:p>
          <a:p>
            <a:pPr algn="l" marL="582930" indent="-291465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Evaluate economic losses</a:t>
            </a:r>
          </a:p>
          <a:p>
            <a:pPr algn="l" marL="582930" indent="-291465" lvl="1">
              <a:lnSpc>
                <a:spcPts val="3726"/>
              </a:lnSpc>
              <a:buFont typeface="Arial"/>
              <a:buChar char="•"/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Develop an interactive dashboard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7296" y="5753576"/>
            <a:ext cx="16199168" cy="3031808"/>
            <a:chOff x="0" y="0"/>
            <a:chExt cx="21598890" cy="40424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98889" cy="4042410"/>
            </a:xfrm>
            <a:custGeom>
              <a:avLst/>
              <a:gdLst/>
              <a:ahLst/>
              <a:cxnLst/>
              <a:rect r="r" b="b" t="t" l="l"/>
              <a:pathLst>
                <a:path h="4042410" w="21598889">
                  <a:moveTo>
                    <a:pt x="0" y="673735"/>
                  </a:moveTo>
                  <a:cubicBezTo>
                    <a:pt x="0" y="301625"/>
                    <a:pt x="301625" y="0"/>
                    <a:pt x="673735" y="0"/>
                  </a:cubicBezTo>
                  <a:lnTo>
                    <a:pt x="20925155" y="0"/>
                  </a:lnTo>
                  <a:cubicBezTo>
                    <a:pt x="21297264" y="0"/>
                    <a:pt x="21598889" y="301625"/>
                    <a:pt x="21598889" y="673735"/>
                  </a:cubicBezTo>
                  <a:lnTo>
                    <a:pt x="21598889" y="3368675"/>
                  </a:lnTo>
                  <a:cubicBezTo>
                    <a:pt x="21598889" y="3740785"/>
                    <a:pt x="21297264" y="4042410"/>
                    <a:pt x="20925155" y="4042410"/>
                  </a:cubicBezTo>
                  <a:lnTo>
                    <a:pt x="673735" y="4042410"/>
                  </a:lnTo>
                  <a:cubicBezTo>
                    <a:pt x="301625" y="4042410"/>
                    <a:pt x="0" y="3740785"/>
                    <a:pt x="0" y="33686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737360" y="6629400"/>
            <a:ext cx="1504188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The project combines historical disaster records, analytical visualizations, and an interactive dashboard to support trend discovery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525780"/>
            <a:ext cx="164134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Dataset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7280" y="1851660"/>
            <a:ext cx="3017520" cy="1028700"/>
            <a:chOff x="0" y="0"/>
            <a:chExt cx="4023360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23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2336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794760" y="0"/>
                  </a:lnTo>
                  <a:cubicBezTo>
                    <a:pt x="3920998" y="0"/>
                    <a:pt x="4023360" y="102362"/>
                    <a:pt x="4023360" y="228600"/>
                  </a:cubicBezTo>
                  <a:lnTo>
                    <a:pt x="4023360" y="1143000"/>
                  </a:lnTo>
                  <a:cubicBezTo>
                    <a:pt x="4023360" y="1269238"/>
                    <a:pt x="3920998" y="1371600"/>
                    <a:pt x="3794760" y="1371600"/>
                  </a:cubicBezTo>
                  <a:lnTo>
                    <a:pt x="228600" y="1371600"/>
                  </a:lnTo>
                  <a:cubicBezTo>
                    <a:pt x="102362" y="1371600"/>
                    <a:pt x="0" y="1269238"/>
                    <a:pt x="0" y="1143000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90472" y="2116836"/>
            <a:ext cx="2286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Dataset Name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381976" y="1844516"/>
            <a:ext cx="12633007" cy="1042988"/>
            <a:chOff x="0" y="0"/>
            <a:chExt cx="16844010" cy="1390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44011" cy="1390650"/>
            </a:xfrm>
            <a:custGeom>
              <a:avLst/>
              <a:gdLst/>
              <a:ahLst/>
              <a:cxnLst/>
              <a:rect r="r" b="b" t="t" l="l"/>
              <a:pathLst>
                <a:path h="1390650" w="16844011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16612236" y="0"/>
                  </a:lnTo>
                  <a:cubicBezTo>
                    <a:pt x="16740251" y="0"/>
                    <a:pt x="16844011" y="103759"/>
                    <a:pt x="16844011" y="231775"/>
                  </a:cubicBezTo>
                  <a:lnTo>
                    <a:pt x="16844011" y="1158875"/>
                  </a:lnTo>
                  <a:cubicBezTo>
                    <a:pt x="16844011" y="1286891"/>
                    <a:pt x="16740251" y="1390650"/>
                    <a:pt x="16612236" y="1390650"/>
                  </a:cubicBezTo>
                  <a:lnTo>
                    <a:pt x="231775" y="1390650"/>
                  </a:lnTo>
                  <a:cubicBezTo>
                    <a:pt x="103759" y="1390650"/>
                    <a:pt x="0" y="1286891"/>
                    <a:pt x="0" y="11588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823460" y="2089404"/>
            <a:ext cx="117500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EM-DAT International Disaster Database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97280" y="3429000"/>
            <a:ext cx="3017520" cy="1028700"/>
            <a:chOff x="0" y="0"/>
            <a:chExt cx="4023360" cy="137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23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2336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794760" y="0"/>
                  </a:lnTo>
                  <a:cubicBezTo>
                    <a:pt x="3920998" y="0"/>
                    <a:pt x="4023360" y="102362"/>
                    <a:pt x="4023360" y="228600"/>
                  </a:cubicBezTo>
                  <a:lnTo>
                    <a:pt x="4023360" y="1143000"/>
                  </a:lnTo>
                  <a:cubicBezTo>
                    <a:pt x="4023360" y="1269238"/>
                    <a:pt x="3920998" y="1371600"/>
                    <a:pt x="3794760" y="1371600"/>
                  </a:cubicBezTo>
                  <a:lnTo>
                    <a:pt x="228600" y="1371600"/>
                  </a:lnTo>
                  <a:cubicBezTo>
                    <a:pt x="102362" y="1371600"/>
                    <a:pt x="0" y="1269238"/>
                    <a:pt x="0" y="1143000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90472" y="3694176"/>
            <a:ext cx="2286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Coverage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381976" y="3421856"/>
            <a:ext cx="12633007" cy="1042988"/>
            <a:chOff x="0" y="0"/>
            <a:chExt cx="16844010" cy="13906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44011" cy="1390650"/>
            </a:xfrm>
            <a:custGeom>
              <a:avLst/>
              <a:gdLst/>
              <a:ahLst/>
              <a:cxnLst/>
              <a:rect r="r" b="b" t="t" l="l"/>
              <a:pathLst>
                <a:path h="1390650" w="16844011">
                  <a:moveTo>
                    <a:pt x="0" y="231775"/>
                  </a:moveTo>
                  <a:cubicBezTo>
                    <a:pt x="0" y="103759"/>
                    <a:pt x="103759" y="0"/>
                    <a:pt x="231775" y="0"/>
                  </a:cubicBezTo>
                  <a:lnTo>
                    <a:pt x="16612236" y="0"/>
                  </a:lnTo>
                  <a:cubicBezTo>
                    <a:pt x="16740251" y="0"/>
                    <a:pt x="16844011" y="103759"/>
                    <a:pt x="16844011" y="231775"/>
                  </a:cubicBezTo>
                  <a:lnTo>
                    <a:pt x="16844011" y="1158875"/>
                  </a:lnTo>
                  <a:cubicBezTo>
                    <a:pt x="16844011" y="1286891"/>
                    <a:pt x="16740251" y="1390650"/>
                    <a:pt x="16612236" y="1390650"/>
                  </a:cubicBezTo>
                  <a:lnTo>
                    <a:pt x="231775" y="1390650"/>
                  </a:lnTo>
                  <a:cubicBezTo>
                    <a:pt x="103759" y="1390650"/>
                    <a:pt x="0" y="1286891"/>
                    <a:pt x="0" y="11588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823460" y="3666744"/>
            <a:ext cx="117500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1970–2021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97280" y="5006340"/>
            <a:ext cx="3017520" cy="1028700"/>
            <a:chOff x="0" y="0"/>
            <a:chExt cx="402336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23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02336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794760" y="0"/>
                  </a:lnTo>
                  <a:cubicBezTo>
                    <a:pt x="3920998" y="0"/>
                    <a:pt x="4023360" y="102362"/>
                    <a:pt x="4023360" y="228600"/>
                  </a:cubicBezTo>
                  <a:lnTo>
                    <a:pt x="4023360" y="1143000"/>
                  </a:lnTo>
                  <a:cubicBezTo>
                    <a:pt x="4023360" y="1269238"/>
                    <a:pt x="3920998" y="1371600"/>
                    <a:pt x="3794760" y="1371600"/>
                  </a:cubicBezTo>
                  <a:lnTo>
                    <a:pt x="228600" y="1371600"/>
                  </a:lnTo>
                  <a:cubicBezTo>
                    <a:pt x="102362" y="1371600"/>
                    <a:pt x="0" y="1269238"/>
                    <a:pt x="0" y="1143000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90472" y="5271516"/>
            <a:ext cx="228600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Attributes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381976" y="4999196"/>
            <a:ext cx="12633007" cy="1934527"/>
            <a:chOff x="0" y="0"/>
            <a:chExt cx="16844010" cy="25793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44009" cy="2579370"/>
            </a:xfrm>
            <a:custGeom>
              <a:avLst/>
              <a:gdLst/>
              <a:ahLst/>
              <a:cxnLst/>
              <a:rect r="r" b="b" t="t" l="l"/>
              <a:pathLst>
                <a:path h="2579370" w="16844009">
                  <a:moveTo>
                    <a:pt x="0" y="429895"/>
                  </a:moveTo>
                  <a:cubicBezTo>
                    <a:pt x="0" y="192532"/>
                    <a:pt x="192532" y="0"/>
                    <a:pt x="429895" y="0"/>
                  </a:cubicBezTo>
                  <a:lnTo>
                    <a:pt x="16414114" y="0"/>
                  </a:lnTo>
                  <a:cubicBezTo>
                    <a:pt x="16651605" y="0"/>
                    <a:pt x="16844009" y="192532"/>
                    <a:pt x="16844009" y="429895"/>
                  </a:cubicBezTo>
                  <a:lnTo>
                    <a:pt x="16844009" y="2149475"/>
                  </a:lnTo>
                  <a:cubicBezTo>
                    <a:pt x="16844009" y="2386965"/>
                    <a:pt x="16651478" y="2579370"/>
                    <a:pt x="16414114" y="2579370"/>
                  </a:cubicBezTo>
                  <a:lnTo>
                    <a:pt x="429895" y="2579370"/>
                  </a:lnTo>
                  <a:cubicBezTo>
                    <a:pt x="192532" y="2579370"/>
                    <a:pt x="0" y="2386838"/>
                    <a:pt x="0" y="21494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4823460" y="5244084"/>
            <a:ext cx="1175004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Country, Continent, Disaster Type, Disaster Subgroup, Start Year, Total Deaths, Total Affected, Economic Damage, Disaster Magnitude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5880" y="7863840"/>
            <a:ext cx="1586484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Before analysis, the dataset required cleaning and preprocessing, including missing-value handling, type conversion, and column standardization.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525780"/>
            <a:ext cx="164134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Methodology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71600" y="1783080"/>
            <a:ext cx="4526280" cy="850392"/>
            <a:chOff x="0" y="0"/>
            <a:chExt cx="6035040" cy="11338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350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35040">
                  <a:moveTo>
                    <a:pt x="0" y="188976"/>
                  </a:moveTo>
                  <a:cubicBezTo>
                    <a:pt x="0" y="84582"/>
                    <a:pt x="84582" y="0"/>
                    <a:pt x="188976" y="0"/>
                  </a:cubicBezTo>
                  <a:lnTo>
                    <a:pt x="5846064" y="0"/>
                  </a:lnTo>
                  <a:cubicBezTo>
                    <a:pt x="5950458" y="0"/>
                    <a:pt x="6035040" y="84582"/>
                    <a:pt x="6035040" y="188976"/>
                  </a:cubicBezTo>
                  <a:lnTo>
                    <a:pt x="6035040" y="944880"/>
                  </a:lnTo>
                  <a:cubicBezTo>
                    <a:pt x="6035040" y="1049274"/>
                    <a:pt x="5950458" y="1133856"/>
                    <a:pt x="5846064" y="1133856"/>
                  </a:cubicBezTo>
                  <a:lnTo>
                    <a:pt x="188976" y="1133856"/>
                  </a:lnTo>
                  <a:cubicBezTo>
                    <a:pt x="84582" y="1133856"/>
                    <a:pt x="0" y="1049274"/>
                    <a:pt x="0" y="944880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72281" y="2020824"/>
            <a:ext cx="252491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EM-DAT Dataset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51860" y="2596896"/>
            <a:ext cx="29718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75120" y="1938528"/>
            <a:ext cx="969264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Collected the historical disaster records used as the project foundation.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1600" y="3154680"/>
            <a:ext cx="4526280" cy="850392"/>
            <a:chOff x="0" y="0"/>
            <a:chExt cx="6035040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350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35040">
                  <a:moveTo>
                    <a:pt x="0" y="188976"/>
                  </a:moveTo>
                  <a:cubicBezTo>
                    <a:pt x="0" y="84582"/>
                    <a:pt x="84582" y="0"/>
                    <a:pt x="188976" y="0"/>
                  </a:cubicBezTo>
                  <a:lnTo>
                    <a:pt x="5846064" y="0"/>
                  </a:lnTo>
                  <a:cubicBezTo>
                    <a:pt x="5950458" y="0"/>
                    <a:pt x="6035040" y="84582"/>
                    <a:pt x="6035040" y="188976"/>
                  </a:cubicBezTo>
                  <a:lnTo>
                    <a:pt x="6035040" y="944880"/>
                  </a:lnTo>
                  <a:cubicBezTo>
                    <a:pt x="6035040" y="1049274"/>
                    <a:pt x="5950458" y="1133856"/>
                    <a:pt x="5846064" y="1133856"/>
                  </a:cubicBezTo>
                  <a:lnTo>
                    <a:pt x="188976" y="1133856"/>
                  </a:lnTo>
                  <a:cubicBezTo>
                    <a:pt x="84582" y="1133856"/>
                    <a:pt x="0" y="1049274"/>
                    <a:pt x="0" y="94488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534503" y="3392424"/>
            <a:ext cx="220047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Data Cleaning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51860" y="3968496"/>
            <a:ext cx="29718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75120" y="3310128"/>
            <a:ext cx="969264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Removed inconsistencies, handled missing values, and prepared analysis-ready fields.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1600" y="4526280"/>
            <a:ext cx="4526280" cy="850392"/>
            <a:chOff x="0" y="0"/>
            <a:chExt cx="6035040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350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35040">
                  <a:moveTo>
                    <a:pt x="0" y="188976"/>
                  </a:moveTo>
                  <a:cubicBezTo>
                    <a:pt x="0" y="84582"/>
                    <a:pt x="84582" y="0"/>
                    <a:pt x="188976" y="0"/>
                  </a:cubicBezTo>
                  <a:lnTo>
                    <a:pt x="5846064" y="0"/>
                  </a:lnTo>
                  <a:cubicBezTo>
                    <a:pt x="5950458" y="0"/>
                    <a:pt x="6035040" y="84582"/>
                    <a:pt x="6035040" y="188976"/>
                  </a:cubicBezTo>
                  <a:lnTo>
                    <a:pt x="6035040" y="944880"/>
                  </a:lnTo>
                  <a:cubicBezTo>
                    <a:pt x="6035040" y="1049274"/>
                    <a:pt x="5950458" y="1133856"/>
                    <a:pt x="5846064" y="1133856"/>
                  </a:cubicBezTo>
                  <a:lnTo>
                    <a:pt x="188976" y="1133856"/>
                  </a:lnTo>
                  <a:cubicBezTo>
                    <a:pt x="84582" y="1133856"/>
                    <a:pt x="0" y="1049274"/>
                    <a:pt x="0" y="944880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10670" y="4569333"/>
            <a:ext cx="388238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7"/>
              </a:lnSpc>
            </a:pPr>
            <a:r>
              <a:rPr lang="en-US" sz="2689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Exploratory </a:t>
            </a:r>
          </a:p>
          <a:p>
            <a:pPr algn="ctr">
              <a:lnSpc>
                <a:spcPts val="3227"/>
              </a:lnSpc>
            </a:pPr>
            <a:r>
              <a:rPr lang="en-US" sz="2689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Data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51860" y="5340096"/>
            <a:ext cx="29718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75120" y="4681728"/>
            <a:ext cx="969264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Explored temporal, geographic, and disaster-type patterns in the dataset.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1600" y="5897880"/>
            <a:ext cx="4526280" cy="850392"/>
            <a:chOff x="0" y="0"/>
            <a:chExt cx="6035040" cy="1133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350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35040">
                  <a:moveTo>
                    <a:pt x="0" y="188976"/>
                  </a:moveTo>
                  <a:cubicBezTo>
                    <a:pt x="0" y="84582"/>
                    <a:pt x="84582" y="0"/>
                    <a:pt x="188976" y="0"/>
                  </a:cubicBezTo>
                  <a:lnTo>
                    <a:pt x="5846064" y="0"/>
                  </a:lnTo>
                  <a:cubicBezTo>
                    <a:pt x="5950458" y="0"/>
                    <a:pt x="6035040" y="84582"/>
                    <a:pt x="6035040" y="188976"/>
                  </a:cubicBezTo>
                  <a:lnTo>
                    <a:pt x="6035040" y="944880"/>
                  </a:lnTo>
                  <a:cubicBezTo>
                    <a:pt x="6035040" y="1049274"/>
                    <a:pt x="5950458" y="1133856"/>
                    <a:pt x="5846064" y="1133856"/>
                  </a:cubicBezTo>
                  <a:lnTo>
                    <a:pt x="188976" y="1133856"/>
                  </a:lnTo>
                  <a:cubicBezTo>
                    <a:pt x="84582" y="1133856"/>
                    <a:pt x="0" y="1049274"/>
                    <a:pt x="0" y="94488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841658" y="5985891"/>
            <a:ext cx="3495458" cy="77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5"/>
              </a:lnSpc>
            </a:pPr>
            <a:r>
              <a:rPr lang="en-US" sz="2579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Analytical </a:t>
            </a:r>
          </a:p>
          <a:p>
            <a:pPr algn="ctr">
              <a:lnSpc>
                <a:spcPts val="3095"/>
              </a:lnSpc>
            </a:pPr>
            <a:r>
              <a:rPr lang="en-US" sz="2579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Visualizations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51860" y="6711696"/>
            <a:ext cx="29718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5120" y="6053328"/>
            <a:ext cx="969264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Built charts to answer questions on trends, deaths, losses, and affected population.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71600" y="7269480"/>
            <a:ext cx="4526280" cy="850392"/>
            <a:chOff x="0" y="0"/>
            <a:chExt cx="6035040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350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35040">
                  <a:moveTo>
                    <a:pt x="0" y="188976"/>
                  </a:moveTo>
                  <a:cubicBezTo>
                    <a:pt x="0" y="84582"/>
                    <a:pt x="84582" y="0"/>
                    <a:pt x="188976" y="0"/>
                  </a:cubicBezTo>
                  <a:lnTo>
                    <a:pt x="5846064" y="0"/>
                  </a:lnTo>
                  <a:cubicBezTo>
                    <a:pt x="5950458" y="0"/>
                    <a:pt x="6035040" y="84582"/>
                    <a:pt x="6035040" y="188976"/>
                  </a:cubicBezTo>
                  <a:lnTo>
                    <a:pt x="6035040" y="944880"/>
                  </a:lnTo>
                  <a:cubicBezTo>
                    <a:pt x="6035040" y="1049274"/>
                    <a:pt x="5950458" y="1133856"/>
                    <a:pt x="5846064" y="1133856"/>
                  </a:cubicBezTo>
                  <a:lnTo>
                    <a:pt x="188976" y="1133856"/>
                  </a:lnTo>
                  <a:cubicBezTo>
                    <a:pt x="84582" y="1133856"/>
                    <a:pt x="0" y="1049274"/>
                    <a:pt x="0" y="944880"/>
                  </a:cubicBezTo>
                  <a:close/>
                </a:path>
              </a:pathLst>
            </a:custGeom>
            <a:solidFill>
              <a:srgbClr val="16653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71600" y="7347966"/>
            <a:ext cx="416052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Interactive Streamlit Dashboard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75120" y="7424928"/>
            <a:ext cx="969264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Integrated the findings into a dashboard with filters, tabs, and KPI summaries.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525780"/>
            <a:ext cx="164134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Analytical Visualizations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8444" y="2279123"/>
            <a:ext cx="9048436" cy="6455797"/>
            <a:chOff x="0" y="0"/>
            <a:chExt cx="12064581" cy="8607730"/>
          </a:xfrm>
        </p:grpSpPr>
        <p:sp>
          <p:nvSpPr>
            <p:cNvPr name="Freeform 6" id="6" descr="1-2.jpg"/>
            <p:cNvSpPr/>
            <p:nvPr/>
          </p:nvSpPr>
          <p:spPr>
            <a:xfrm flipH="false" flipV="false" rot="0">
              <a:off x="0" y="0"/>
              <a:ext cx="12064619" cy="8607679"/>
            </a:xfrm>
            <a:custGeom>
              <a:avLst/>
              <a:gdLst/>
              <a:ahLst/>
              <a:cxnLst/>
              <a:rect r="r" b="b" t="t" l="l"/>
              <a:pathLst>
                <a:path h="8607679" w="12064619">
                  <a:moveTo>
                    <a:pt x="0" y="0"/>
                  </a:moveTo>
                  <a:lnTo>
                    <a:pt x="12064619" y="0"/>
                  </a:lnTo>
                  <a:lnTo>
                    <a:pt x="12064619" y="8607679"/>
                  </a:lnTo>
                  <a:lnTo>
                    <a:pt x="0" y="8607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097" t="0" r="-2309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966960" y="3372422"/>
            <a:ext cx="7223760" cy="349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545" indent="-275272" lvl="1">
              <a:lnSpc>
                <a:spcPts val="3519"/>
              </a:lnSpc>
              <a:buFont typeface="Arial"/>
              <a:buChar char="•"/>
            </a:pPr>
            <a:r>
              <a:rPr lang="en-US" sz="25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Disaster trends over time show how recorded events increased across decades.</a:t>
            </a:r>
          </a:p>
          <a:p>
            <a:pPr algn="l" marL="550545" indent="-275272" lvl="1">
              <a:lnSpc>
                <a:spcPts val="3519"/>
              </a:lnSpc>
              <a:buFont typeface="Arial"/>
              <a:buChar char="•"/>
            </a:pPr>
            <a:r>
              <a:rPr lang="en-US" sz="25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Deaths by disaster type highlight where mortality is most concentrated.</a:t>
            </a:r>
          </a:p>
          <a:p>
            <a:pPr algn="l" marL="550545" indent="-275272" lvl="1">
              <a:lnSpc>
                <a:spcPts val="3519"/>
              </a:lnSpc>
              <a:buFont typeface="Arial"/>
              <a:buChar char="•"/>
            </a:pPr>
            <a:r>
              <a:rPr lang="en-US" sz="25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Economic damage analysis identifies the costliest disaster patterns.</a:t>
            </a:r>
          </a:p>
          <a:p>
            <a:pPr algn="l" marL="550545" indent="-275272" lvl="1">
              <a:lnSpc>
                <a:spcPts val="3519"/>
              </a:lnSpc>
              <a:buFont typeface="Arial"/>
              <a:buChar char="•"/>
            </a:pPr>
            <a:r>
              <a:rPr lang="en-US" sz="25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Human impact views compare deaths, affected population, and severity relationships.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78440" y="7783891"/>
            <a:ext cx="69494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FD37A"/>
                </a:solidFill>
                <a:latin typeface="Aptos"/>
                <a:ea typeface="Aptos"/>
                <a:cs typeface="Aptos"/>
                <a:sym typeface="Aptos"/>
              </a:rPr>
              <a:t>These visualizations answer specific analytical questions before the dashboard stage.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031" y="847032"/>
            <a:ext cx="1641348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Dashboard Overview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0120" y="3009710"/>
            <a:ext cx="10149840" cy="5100076"/>
            <a:chOff x="0" y="0"/>
            <a:chExt cx="13533120" cy="6800102"/>
          </a:xfrm>
        </p:grpSpPr>
        <p:sp>
          <p:nvSpPr>
            <p:cNvPr name="Freeform 6" id="6" descr="1-2.jpg"/>
            <p:cNvSpPr/>
            <p:nvPr/>
          </p:nvSpPr>
          <p:spPr>
            <a:xfrm flipH="false" flipV="false" rot="0">
              <a:off x="0" y="0"/>
              <a:ext cx="13533120" cy="6800101"/>
            </a:xfrm>
            <a:custGeom>
              <a:avLst/>
              <a:gdLst/>
              <a:ahLst/>
              <a:cxnLst/>
              <a:rect r="r" b="b" t="t" l="l"/>
              <a:pathLst>
                <a:path h="6800101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6800101"/>
                  </a:lnTo>
                  <a:lnTo>
                    <a:pt x="0" y="6800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80" t="0" r="-148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851260" y="3496246"/>
            <a:ext cx="5715000" cy="3932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545" indent="-275272" lvl="1">
              <a:lnSpc>
                <a:spcPts val="3519"/>
              </a:lnSpc>
              <a:buFont typeface="Arial"/>
              <a:buChar char="•"/>
            </a:pPr>
            <a:r>
              <a:rPr lang="en-US" sz="25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Interactive filters for year, continent, and disaster type.</a:t>
            </a:r>
          </a:p>
          <a:p>
            <a:pPr algn="l" marL="550545" indent="-275272" lvl="1">
              <a:lnSpc>
                <a:spcPts val="3519"/>
              </a:lnSpc>
              <a:buFont typeface="Arial"/>
              <a:buChar char="•"/>
            </a:pPr>
            <a:r>
              <a:rPr lang="en-US" sz="25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KPI cards summarizing total disasters, deaths, people affected, and economic damage.</a:t>
            </a:r>
          </a:p>
          <a:p>
            <a:pPr algn="l" marL="550545" indent="-275272" lvl="1">
              <a:lnSpc>
                <a:spcPts val="3519"/>
              </a:lnSpc>
              <a:buFont typeface="Arial"/>
              <a:buChar char="•"/>
            </a:pPr>
            <a:r>
              <a:rPr lang="en-US" sz="25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Navigation tabs for different analytical views.</a:t>
            </a:r>
          </a:p>
          <a:p>
            <a:pPr algn="l" marL="550545" indent="-275272" lvl="1">
              <a:lnSpc>
                <a:spcPts val="3519"/>
              </a:lnSpc>
              <a:buFont typeface="Arial"/>
              <a:buChar char="•"/>
            </a:pPr>
            <a:r>
              <a:rPr lang="en-US" sz="255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Dynamic Plotly charts that respond to selected filters.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525780"/>
            <a:ext cx="164134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Dashboard Features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15816" y="1775936"/>
            <a:ext cx="7969568" cy="3031808"/>
            <a:chOff x="0" y="0"/>
            <a:chExt cx="10626090" cy="4042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26089" cy="4042410"/>
            </a:xfrm>
            <a:custGeom>
              <a:avLst/>
              <a:gdLst/>
              <a:ahLst/>
              <a:cxnLst/>
              <a:rect r="r" b="b" t="t" l="l"/>
              <a:pathLst>
                <a:path h="4042410" w="10626089">
                  <a:moveTo>
                    <a:pt x="0" y="673735"/>
                  </a:moveTo>
                  <a:cubicBezTo>
                    <a:pt x="0" y="301625"/>
                    <a:pt x="301625" y="0"/>
                    <a:pt x="673735" y="0"/>
                  </a:cubicBezTo>
                  <a:lnTo>
                    <a:pt x="9952355" y="0"/>
                  </a:lnTo>
                  <a:cubicBezTo>
                    <a:pt x="10324464" y="0"/>
                    <a:pt x="10626089" y="301625"/>
                    <a:pt x="10626089" y="673735"/>
                  </a:cubicBezTo>
                  <a:lnTo>
                    <a:pt x="10626089" y="3368675"/>
                  </a:lnTo>
                  <a:cubicBezTo>
                    <a:pt x="10626089" y="3740785"/>
                    <a:pt x="10324464" y="4042410"/>
                    <a:pt x="9952355" y="4042410"/>
                  </a:cubicBezTo>
                  <a:lnTo>
                    <a:pt x="673735" y="4042410"/>
                  </a:lnTo>
                  <a:cubicBezTo>
                    <a:pt x="301625" y="4042410"/>
                    <a:pt x="0" y="3740785"/>
                    <a:pt x="0" y="33686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96595" y="2656075"/>
            <a:ext cx="3548557" cy="1881549"/>
            <a:chOff x="0" y="0"/>
            <a:chExt cx="4731409" cy="2508733"/>
          </a:xfrm>
        </p:grpSpPr>
        <p:sp>
          <p:nvSpPr>
            <p:cNvPr name="Freeform 8" id="8" descr="1-2.jpg"/>
            <p:cNvSpPr/>
            <p:nvPr/>
          </p:nvSpPr>
          <p:spPr>
            <a:xfrm flipH="false" flipV="false" rot="0">
              <a:off x="0" y="0"/>
              <a:ext cx="4731409" cy="2508718"/>
            </a:xfrm>
            <a:custGeom>
              <a:avLst/>
              <a:gdLst/>
              <a:ahLst/>
              <a:cxnLst/>
              <a:rect r="r" b="b" t="t" l="l"/>
              <a:pathLst>
                <a:path h="2508718" w="4731409">
                  <a:moveTo>
                    <a:pt x="0" y="0"/>
                  </a:moveTo>
                  <a:lnTo>
                    <a:pt x="4731409" y="0"/>
                  </a:lnTo>
                  <a:lnTo>
                    <a:pt x="4731409" y="2508718"/>
                  </a:lnTo>
                  <a:lnTo>
                    <a:pt x="0" y="2508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24" t="0" r="-4324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773287" y="1889846"/>
            <a:ext cx="352044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2FD3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📊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45152" y="2755392"/>
            <a:ext cx="35204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Trends and summary statistics.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19736" y="1775936"/>
            <a:ext cx="7969568" cy="3031808"/>
            <a:chOff x="0" y="0"/>
            <a:chExt cx="10626090" cy="40424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26089" cy="4042410"/>
            </a:xfrm>
            <a:custGeom>
              <a:avLst/>
              <a:gdLst/>
              <a:ahLst/>
              <a:cxnLst/>
              <a:rect r="r" b="b" t="t" l="l"/>
              <a:pathLst>
                <a:path h="4042410" w="10626089">
                  <a:moveTo>
                    <a:pt x="0" y="673735"/>
                  </a:moveTo>
                  <a:cubicBezTo>
                    <a:pt x="0" y="301625"/>
                    <a:pt x="301625" y="0"/>
                    <a:pt x="673735" y="0"/>
                  </a:cubicBezTo>
                  <a:lnTo>
                    <a:pt x="9952355" y="0"/>
                  </a:lnTo>
                  <a:cubicBezTo>
                    <a:pt x="10324464" y="0"/>
                    <a:pt x="10626089" y="301625"/>
                    <a:pt x="10626089" y="673735"/>
                  </a:cubicBezTo>
                  <a:lnTo>
                    <a:pt x="10626089" y="3368675"/>
                  </a:lnTo>
                  <a:cubicBezTo>
                    <a:pt x="10626089" y="3740785"/>
                    <a:pt x="10324464" y="4042410"/>
                    <a:pt x="9952355" y="4042410"/>
                  </a:cubicBezTo>
                  <a:lnTo>
                    <a:pt x="673735" y="4042410"/>
                  </a:lnTo>
                  <a:cubicBezTo>
                    <a:pt x="301625" y="4042410"/>
                    <a:pt x="0" y="3740785"/>
                    <a:pt x="0" y="33686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403626" y="1923288"/>
            <a:ext cx="352044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2FD3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👥 Human Impact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49072" y="2755392"/>
            <a:ext cx="352044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Deaths, affected population, and magnitude relationships.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5816" y="6103144"/>
            <a:ext cx="7969568" cy="3471893"/>
            <a:chOff x="0" y="0"/>
            <a:chExt cx="10626090" cy="46291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26089" cy="4629191"/>
            </a:xfrm>
            <a:custGeom>
              <a:avLst/>
              <a:gdLst/>
              <a:ahLst/>
              <a:cxnLst/>
              <a:rect r="r" b="b" t="t" l="l"/>
              <a:pathLst>
                <a:path h="4629191" w="10626089">
                  <a:moveTo>
                    <a:pt x="0" y="771532"/>
                  </a:moveTo>
                  <a:cubicBezTo>
                    <a:pt x="0" y="345408"/>
                    <a:pt x="301625" y="0"/>
                    <a:pt x="673735" y="0"/>
                  </a:cubicBezTo>
                  <a:lnTo>
                    <a:pt x="9952355" y="0"/>
                  </a:lnTo>
                  <a:cubicBezTo>
                    <a:pt x="10324464" y="0"/>
                    <a:pt x="10626089" y="345408"/>
                    <a:pt x="10626089" y="771532"/>
                  </a:cubicBezTo>
                  <a:lnTo>
                    <a:pt x="10626089" y="3857659"/>
                  </a:lnTo>
                  <a:cubicBezTo>
                    <a:pt x="10626089" y="4283783"/>
                    <a:pt x="10324464" y="4629191"/>
                    <a:pt x="9952355" y="4629191"/>
                  </a:cubicBezTo>
                  <a:lnTo>
                    <a:pt x="673735" y="4629191"/>
                  </a:lnTo>
                  <a:cubicBezTo>
                    <a:pt x="301625" y="4629191"/>
                    <a:pt x="0" y="4283783"/>
                    <a:pt x="0" y="3857659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3040380" y="6140577"/>
            <a:ext cx="352044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2FD3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🌍 Disaster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00600" y="7567422"/>
            <a:ext cx="35204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Distribution by type and geographic patterns.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36608" y="5973318"/>
            <a:ext cx="7969568" cy="3601719"/>
            <a:chOff x="0" y="0"/>
            <a:chExt cx="10626090" cy="48022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26089" cy="4802291"/>
            </a:xfrm>
            <a:custGeom>
              <a:avLst/>
              <a:gdLst/>
              <a:ahLst/>
              <a:cxnLst/>
              <a:rect r="r" b="b" t="t" l="l"/>
              <a:pathLst>
                <a:path h="4802291" w="10626089">
                  <a:moveTo>
                    <a:pt x="0" y="800382"/>
                  </a:moveTo>
                  <a:cubicBezTo>
                    <a:pt x="0" y="358324"/>
                    <a:pt x="301625" y="0"/>
                    <a:pt x="673735" y="0"/>
                  </a:cubicBezTo>
                  <a:lnTo>
                    <a:pt x="9952355" y="0"/>
                  </a:lnTo>
                  <a:cubicBezTo>
                    <a:pt x="10324464" y="0"/>
                    <a:pt x="10626089" y="358324"/>
                    <a:pt x="10626089" y="800382"/>
                  </a:cubicBezTo>
                  <a:lnTo>
                    <a:pt x="10626089" y="4001910"/>
                  </a:lnTo>
                  <a:cubicBezTo>
                    <a:pt x="10626089" y="4443968"/>
                    <a:pt x="10324464" y="4802291"/>
                    <a:pt x="9952355" y="4802291"/>
                  </a:cubicBezTo>
                  <a:lnTo>
                    <a:pt x="673735" y="4802291"/>
                  </a:lnTo>
                  <a:cubicBezTo>
                    <a:pt x="301625" y="4802291"/>
                    <a:pt x="0" y="4443968"/>
                    <a:pt x="0" y="4001910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131448" y="6036469"/>
            <a:ext cx="3520440" cy="43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2FD3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💰 Economic Impact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38860" y="7538847"/>
            <a:ext cx="352044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Economic losses across continents and disaster types.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36608" y="2509460"/>
            <a:ext cx="3433743" cy="2028165"/>
            <a:chOff x="0" y="0"/>
            <a:chExt cx="4578325" cy="27042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8350" cy="2704196"/>
            </a:xfrm>
            <a:custGeom>
              <a:avLst/>
              <a:gdLst/>
              <a:ahLst/>
              <a:cxnLst/>
              <a:rect r="r" b="b" t="t" l="l"/>
              <a:pathLst>
                <a:path h="2704196" w="4578350">
                  <a:moveTo>
                    <a:pt x="0" y="0"/>
                  </a:moveTo>
                  <a:lnTo>
                    <a:pt x="4578350" y="0"/>
                  </a:lnTo>
                  <a:lnTo>
                    <a:pt x="4578350" y="2704196"/>
                  </a:lnTo>
                  <a:lnTo>
                    <a:pt x="0" y="2704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178" t="0" r="-11178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35558" y="6856809"/>
            <a:ext cx="3593592" cy="2335625"/>
            <a:chOff x="0" y="0"/>
            <a:chExt cx="4791456" cy="31141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91456" cy="3114167"/>
            </a:xfrm>
            <a:custGeom>
              <a:avLst/>
              <a:gdLst/>
              <a:ahLst/>
              <a:cxnLst/>
              <a:rect r="r" b="b" t="t" l="l"/>
              <a:pathLst>
                <a:path h="3114167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3114167"/>
                  </a:lnTo>
                  <a:lnTo>
                    <a:pt x="0" y="3114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052" t="0" r="-1605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555480" y="6720364"/>
            <a:ext cx="4015341" cy="2381536"/>
            <a:chOff x="0" y="0"/>
            <a:chExt cx="5353788" cy="31753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53788" cy="3175381"/>
            </a:xfrm>
            <a:custGeom>
              <a:avLst/>
              <a:gdLst/>
              <a:ahLst/>
              <a:cxnLst/>
              <a:rect r="r" b="b" t="t" l="l"/>
              <a:pathLst>
                <a:path h="3175381" w="5353788">
                  <a:moveTo>
                    <a:pt x="0" y="0"/>
                  </a:moveTo>
                  <a:lnTo>
                    <a:pt x="5353788" y="0"/>
                  </a:lnTo>
                  <a:lnTo>
                    <a:pt x="5353788" y="3175381"/>
                  </a:lnTo>
                  <a:lnTo>
                    <a:pt x="0" y="3175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352" t="0" r="-1035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525780"/>
            <a:ext cx="164134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Key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221" y="2717508"/>
            <a:ext cx="11712470" cy="561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4" indent="-421002" lvl="1">
              <a:lnSpc>
                <a:spcPts val="5615"/>
              </a:lnSpc>
              <a:buFont typeface="Arial"/>
              <a:buChar char="•"/>
            </a:pPr>
            <a:r>
              <a:rPr lang="en-US" sz="3899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Disaster frequency increased over time.</a:t>
            </a:r>
          </a:p>
          <a:p>
            <a:pPr algn="l" marL="842004" indent="-421002" lvl="1">
              <a:lnSpc>
                <a:spcPts val="5615"/>
              </a:lnSpc>
              <a:buFont typeface="Arial"/>
              <a:buChar char="•"/>
            </a:pPr>
            <a:r>
              <a:rPr lang="en-US" sz="3899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Floods and storms are among the most frequent disasters.</a:t>
            </a:r>
          </a:p>
          <a:p>
            <a:pPr algn="l" marL="842004" indent="-421002" lvl="1">
              <a:lnSpc>
                <a:spcPts val="5615"/>
              </a:lnSpc>
              <a:buFont typeface="Arial"/>
              <a:buChar char="•"/>
            </a:pPr>
            <a:r>
              <a:rPr lang="en-US" sz="3899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Asia experienced the highest human impact.</a:t>
            </a:r>
          </a:p>
          <a:p>
            <a:pPr algn="l" marL="842004" indent="-421002" lvl="1">
              <a:lnSpc>
                <a:spcPts val="5615"/>
              </a:lnSpc>
              <a:buFont typeface="Arial"/>
              <a:buChar char="•"/>
            </a:pPr>
            <a:r>
              <a:rPr lang="en-US" sz="3899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Economic losses are concentrated in a few countries.</a:t>
            </a:r>
          </a:p>
          <a:p>
            <a:pPr algn="l" marL="842004" indent="-421002" lvl="1">
              <a:lnSpc>
                <a:spcPts val="5615"/>
              </a:lnSpc>
              <a:buFont typeface="Arial"/>
              <a:buChar char="•"/>
            </a:pPr>
            <a:r>
              <a:rPr lang="en-US" sz="3899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Disaster magnitude does not always correlate with fatalities.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525780"/>
            <a:ext cx="164134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Challenges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27296" y="1844516"/>
            <a:ext cx="15787688" cy="974407"/>
            <a:chOff x="0" y="0"/>
            <a:chExt cx="21050250" cy="12992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50250" cy="1299210"/>
            </a:xfrm>
            <a:custGeom>
              <a:avLst/>
              <a:gdLst/>
              <a:ahLst/>
              <a:cxnLst/>
              <a:rect r="r" b="b" t="t" l="l"/>
              <a:pathLst>
                <a:path h="1299210" w="21050250">
                  <a:moveTo>
                    <a:pt x="0" y="216535"/>
                  </a:moveTo>
                  <a:cubicBezTo>
                    <a:pt x="0" y="96901"/>
                    <a:pt x="96901" y="0"/>
                    <a:pt x="216535" y="0"/>
                  </a:cubicBezTo>
                  <a:lnTo>
                    <a:pt x="20833716" y="0"/>
                  </a:lnTo>
                  <a:cubicBezTo>
                    <a:pt x="20953349" y="0"/>
                    <a:pt x="21050250" y="96901"/>
                    <a:pt x="21050250" y="216535"/>
                  </a:cubicBezTo>
                  <a:lnTo>
                    <a:pt x="21050250" y="1082675"/>
                  </a:lnTo>
                  <a:cubicBezTo>
                    <a:pt x="21050250" y="1202309"/>
                    <a:pt x="20953349" y="1299210"/>
                    <a:pt x="20833716" y="1299210"/>
                  </a:cubicBezTo>
                  <a:lnTo>
                    <a:pt x="216535" y="1299210"/>
                  </a:lnTo>
                  <a:cubicBezTo>
                    <a:pt x="96901" y="1299210"/>
                    <a:pt x="0" y="1202309"/>
                    <a:pt x="0" y="10826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2130552"/>
            <a:ext cx="5029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6363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60320" y="2075688"/>
            <a:ext cx="13807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Missing values in critical columns such as deaths, affected population, and damage.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7296" y="3147536"/>
            <a:ext cx="15787688" cy="974407"/>
            <a:chOff x="0" y="0"/>
            <a:chExt cx="21050250" cy="12992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50250" cy="1299210"/>
            </a:xfrm>
            <a:custGeom>
              <a:avLst/>
              <a:gdLst/>
              <a:ahLst/>
              <a:cxnLst/>
              <a:rect r="r" b="b" t="t" l="l"/>
              <a:pathLst>
                <a:path h="1299210" w="21050250">
                  <a:moveTo>
                    <a:pt x="0" y="216535"/>
                  </a:moveTo>
                  <a:cubicBezTo>
                    <a:pt x="0" y="96901"/>
                    <a:pt x="96901" y="0"/>
                    <a:pt x="216535" y="0"/>
                  </a:cubicBezTo>
                  <a:lnTo>
                    <a:pt x="20833716" y="0"/>
                  </a:lnTo>
                  <a:cubicBezTo>
                    <a:pt x="20953349" y="0"/>
                    <a:pt x="21050250" y="96901"/>
                    <a:pt x="21050250" y="216535"/>
                  </a:cubicBezTo>
                  <a:lnTo>
                    <a:pt x="21050250" y="1082675"/>
                  </a:lnTo>
                  <a:cubicBezTo>
                    <a:pt x="21050250" y="1202309"/>
                    <a:pt x="20953349" y="1299210"/>
                    <a:pt x="20833716" y="1299210"/>
                  </a:cubicBezTo>
                  <a:lnTo>
                    <a:pt x="216535" y="1299210"/>
                  </a:lnTo>
                  <a:cubicBezTo>
                    <a:pt x="96901" y="1299210"/>
                    <a:pt x="0" y="1202309"/>
                    <a:pt x="0" y="10826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600200" y="3433572"/>
            <a:ext cx="5029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636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0320" y="3378708"/>
            <a:ext cx="13807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Extensive preprocessing to standardize data types, categories, and naming conventions.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27296" y="4450556"/>
            <a:ext cx="15787688" cy="974407"/>
            <a:chOff x="0" y="0"/>
            <a:chExt cx="21050250" cy="12992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50250" cy="1299210"/>
            </a:xfrm>
            <a:custGeom>
              <a:avLst/>
              <a:gdLst/>
              <a:ahLst/>
              <a:cxnLst/>
              <a:rect r="r" b="b" t="t" l="l"/>
              <a:pathLst>
                <a:path h="1299210" w="21050250">
                  <a:moveTo>
                    <a:pt x="0" y="216535"/>
                  </a:moveTo>
                  <a:cubicBezTo>
                    <a:pt x="0" y="96901"/>
                    <a:pt x="96901" y="0"/>
                    <a:pt x="216535" y="0"/>
                  </a:cubicBezTo>
                  <a:lnTo>
                    <a:pt x="20833716" y="0"/>
                  </a:lnTo>
                  <a:cubicBezTo>
                    <a:pt x="20953349" y="0"/>
                    <a:pt x="21050250" y="96901"/>
                    <a:pt x="21050250" y="216535"/>
                  </a:cubicBezTo>
                  <a:lnTo>
                    <a:pt x="21050250" y="1082675"/>
                  </a:lnTo>
                  <a:cubicBezTo>
                    <a:pt x="21050250" y="1202309"/>
                    <a:pt x="20953349" y="1299210"/>
                    <a:pt x="20833716" y="1299210"/>
                  </a:cubicBezTo>
                  <a:lnTo>
                    <a:pt x="216535" y="1299210"/>
                  </a:lnTo>
                  <a:cubicBezTo>
                    <a:pt x="96901" y="1299210"/>
                    <a:pt x="0" y="1202309"/>
                    <a:pt x="0" y="10826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600200" y="4736592"/>
            <a:ext cx="5029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6363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0320" y="4681728"/>
            <a:ext cx="13807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Selecting visualizations that communicate trends clearly without overcrowding the dashboard.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7296" y="5753576"/>
            <a:ext cx="15787688" cy="974407"/>
            <a:chOff x="0" y="0"/>
            <a:chExt cx="21050250" cy="12992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50250" cy="1299210"/>
            </a:xfrm>
            <a:custGeom>
              <a:avLst/>
              <a:gdLst/>
              <a:ahLst/>
              <a:cxnLst/>
              <a:rect r="r" b="b" t="t" l="l"/>
              <a:pathLst>
                <a:path h="1299210" w="21050250">
                  <a:moveTo>
                    <a:pt x="0" y="216535"/>
                  </a:moveTo>
                  <a:cubicBezTo>
                    <a:pt x="0" y="96901"/>
                    <a:pt x="96901" y="0"/>
                    <a:pt x="216535" y="0"/>
                  </a:cubicBezTo>
                  <a:lnTo>
                    <a:pt x="20833716" y="0"/>
                  </a:lnTo>
                  <a:cubicBezTo>
                    <a:pt x="20953349" y="0"/>
                    <a:pt x="21050250" y="96901"/>
                    <a:pt x="21050250" y="216535"/>
                  </a:cubicBezTo>
                  <a:lnTo>
                    <a:pt x="21050250" y="1082675"/>
                  </a:lnTo>
                  <a:cubicBezTo>
                    <a:pt x="21050250" y="1202309"/>
                    <a:pt x="20953349" y="1299210"/>
                    <a:pt x="20833716" y="1299210"/>
                  </a:cubicBezTo>
                  <a:lnTo>
                    <a:pt x="216535" y="1299210"/>
                  </a:lnTo>
                  <a:cubicBezTo>
                    <a:pt x="96901" y="1299210"/>
                    <a:pt x="0" y="1202309"/>
                    <a:pt x="0" y="10826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600200" y="6039612"/>
            <a:ext cx="5029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6363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60320" y="5984748"/>
            <a:ext cx="13807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Building an interactive dashboard structure with multiple tabs and synchronized components.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27296" y="7056596"/>
            <a:ext cx="15787688" cy="974407"/>
            <a:chOff x="0" y="0"/>
            <a:chExt cx="21050250" cy="12992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50250" cy="1299210"/>
            </a:xfrm>
            <a:custGeom>
              <a:avLst/>
              <a:gdLst/>
              <a:ahLst/>
              <a:cxnLst/>
              <a:rect r="r" b="b" t="t" l="l"/>
              <a:pathLst>
                <a:path h="1299210" w="21050250">
                  <a:moveTo>
                    <a:pt x="0" y="216535"/>
                  </a:moveTo>
                  <a:cubicBezTo>
                    <a:pt x="0" y="96901"/>
                    <a:pt x="96901" y="0"/>
                    <a:pt x="216535" y="0"/>
                  </a:cubicBezTo>
                  <a:lnTo>
                    <a:pt x="20833716" y="0"/>
                  </a:lnTo>
                  <a:cubicBezTo>
                    <a:pt x="20953349" y="0"/>
                    <a:pt x="21050250" y="96901"/>
                    <a:pt x="21050250" y="216535"/>
                  </a:cubicBezTo>
                  <a:lnTo>
                    <a:pt x="21050250" y="1082675"/>
                  </a:lnTo>
                  <a:cubicBezTo>
                    <a:pt x="21050250" y="1202309"/>
                    <a:pt x="20953349" y="1299210"/>
                    <a:pt x="20833716" y="1299210"/>
                  </a:cubicBezTo>
                  <a:lnTo>
                    <a:pt x="216535" y="1299210"/>
                  </a:lnTo>
                  <a:cubicBezTo>
                    <a:pt x="96901" y="1299210"/>
                    <a:pt x="0" y="1202309"/>
                    <a:pt x="0" y="10826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600200" y="7342632"/>
            <a:ext cx="502920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6363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60320" y="7287768"/>
            <a:ext cx="138074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Ensuring all charts and KPI cards update correctly with user-selected filters.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525780"/>
            <a:ext cx="1641348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Conclusion &amp; Future Work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0136" y="2050256"/>
            <a:ext cx="7832407" cy="6323647"/>
            <a:chOff x="0" y="0"/>
            <a:chExt cx="10443210" cy="8431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43210" cy="8431530"/>
            </a:xfrm>
            <a:custGeom>
              <a:avLst/>
              <a:gdLst/>
              <a:ahLst/>
              <a:cxnLst/>
              <a:rect r="r" b="b" t="t" l="l"/>
              <a:pathLst>
                <a:path h="8431530" w="10443210">
                  <a:moveTo>
                    <a:pt x="0" y="1405255"/>
                  </a:moveTo>
                  <a:cubicBezTo>
                    <a:pt x="0" y="629158"/>
                    <a:pt x="629158" y="0"/>
                    <a:pt x="1405255" y="0"/>
                  </a:cubicBezTo>
                  <a:lnTo>
                    <a:pt x="9037955" y="0"/>
                  </a:lnTo>
                  <a:cubicBezTo>
                    <a:pt x="9814052" y="0"/>
                    <a:pt x="10443210" y="629158"/>
                    <a:pt x="10443210" y="1405255"/>
                  </a:cubicBezTo>
                  <a:lnTo>
                    <a:pt x="10443210" y="7026275"/>
                  </a:lnTo>
                  <a:cubicBezTo>
                    <a:pt x="10443210" y="7802372"/>
                    <a:pt x="9814052" y="8431530"/>
                    <a:pt x="9037955" y="8431530"/>
                  </a:cubicBezTo>
                  <a:lnTo>
                    <a:pt x="1405255" y="8431530"/>
                  </a:lnTo>
                  <a:cubicBezTo>
                    <a:pt x="629158" y="8431530"/>
                    <a:pt x="0" y="7802372"/>
                    <a:pt x="0" y="70262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319736" y="2050256"/>
            <a:ext cx="7832407" cy="6323647"/>
            <a:chOff x="0" y="0"/>
            <a:chExt cx="10443210" cy="8431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43210" cy="8431530"/>
            </a:xfrm>
            <a:custGeom>
              <a:avLst/>
              <a:gdLst/>
              <a:ahLst/>
              <a:cxnLst/>
              <a:rect r="r" b="b" t="t" l="l"/>
              <a:pathLst>
                <a:path h="8431530" w="10443210">
                  <a:moveTo>
                    <a:pt x="0" y="1405255"/>
                  </a:moveTo>
                  <a:cubicBezTo>
                    <a:pt x="0" y="629158"/>
                    <a:pt x="629158" y="0"/>
                    <a:pt x="1405255" y="0"/>
                  </a:cubicBezTo>
                  <a:lnTo>
                    <a:pt x="9037955" y="0"/>
                  </a:lnTo>
                  <a:cubicBezTo>
                    <a:pt x="9814052" y="0"/>
                    <a:pt x="10443210" y="629158"/>
                    <a:pt x="10443210" y="1405255"/>
                  </a:cubicBezTo>
                  <a:lnTo>
                    <a:pt x="10443210" y="7026275"/>
                  </a:lnTo>
                  <a:cubicBezTo>
                    <a:pt x="10443210" y="7802372"/>
                    <a:pt x="9814052" y="8431530"/>
                    <a:pt x="9037955" y="8431530"/>
                  </a:cubicBezTo>
                  <a:lnTo>
                    <a:pt x="1405255" y="8431530"/>
                  </a:lnTo>
                  <a:cubicBezTo>
                    <a:pt x="629158" y="8431530"/>
                    <a:pt x="0" y="7802372"/>
                    <a:pt x="0" y="7026275"/>
                  </a:cubicBezTo>
                  <a:close/>
                </a:path>
              </a:pathLst>
            </a:custGeom>
            <a:solidFill>
              <a:srgbClr val="111827"/>
            </a:solidFill>
            <a:ln w="14288" cap="sq">
              <a:solidFill>
                <a:srgbClr val="374151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00200" y="2514600"/>
            <a:ext cx="25603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1620" y="3084195"/>
            <a:ext cx="6675120" cy="297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Successfully analyzed 50 years of disaster data.</a:t>
            </a:r>
          </a:p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Built an interactive dashboard.</a:t>
            </a:r>
          </a:p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Generated actionable insights.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9800" y="2514600"/>
            <a:ext cx="283464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Future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1220" y="3084195"/>
            <a:ext cx="6675120" cy="338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Integrate real-time disaster feeds.</a:t>
            </a:r>
          </a:p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Add predictive machine learning models.</a:t>
            </a:r>
          </a:p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Deploy the dashboard to the cloud.</a:t>
            </a:r>
          </a:p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F5F7FA"/>
                </a:solidFill>
                <a:latin typeface="Aptos"/>
                <a:ea typeface="Aptos"/>
                <a:cs typeface="Aptos"/>
                <a:sym typeface="Aptos"/>
              </a:rPr>
              <a:t>Include more recent EM-DAT updates.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FF6363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88720" y="2788920"/>
            <a:ext cx="1627632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7360" y="4023360"/>
            <a:ext cx="1490472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2FD37A"/>
                </a:solidFill>
                <a:latin typeface="Aptos Bold"/>
                <a:ea typeface="Aptos Bold"/>
                <a:cs typeface="Aptos Bold"/>
                <a:sym typeface="Aptos Bold"/>
              </a:rPr>
              <a:t>Global Climate &amp; Natural Disaster Analysis (1970–2021)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7360" y="4914900"/>
            <a:ext cx="1490472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Presented by Ankit Semwal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3040" y="5600700"/>
            <a:ext cx="153162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C4CBD4"/>
                </a:solidFill>
                <a:latin typeface="Aptos"/>
                <a:ea typeface="Aptos"/>
                <a:cs typeface="Aptos"/>
                <a:sym typeface="Aptos"/>
              </a:rPr>
              <a:t>Data Visualization • University of Europe for Applied Sciences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DAHQhD9hiUw</dc:identifier>
  <dcterms:modified xsi:type="dcterms:W3CDTF">2011-08-01T06:04:30Z</dcterms:modified>
  <cp:revision>1</cp:revision>
  <dc:title>global_climate_disaster_presentation.pptx</dc:title>
</cp:coreProperties>
</file>